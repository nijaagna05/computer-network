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orizon" charset="1" panose="02000500000000000000"/>
      <p:regular r:id="rId12"/>
    </p:embeddedFont>
    <p:embeddedFont>
      <p:font typeface="Calibri (MS)" charset="1" panose="020F0502020204030204"/>
      <p:regular r:id="rId13"/>
    </p:embeddedFont>
    <p:embeddedFont>
      <p:font typeface="Calibri (MS) Bold" charset="1" panose="020F0702030404030204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0"/>
            <a:ext cx="13716000" cy="102870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0" y="844917"/>
            <a:ext cx="12344400" cy="1858491"/>
            <a:chOff x="0" y="0"/>
            <a:chExt cx="11704320" cy="1762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762125"/>
            </a:xfrm>
            <a:custGeom>
              <a:avLst/>
              <a:gdLst/>
              <a:ahLst/>
              <a:cxnLst/>
              <a:rect r="r" b="b" t="t" l="l"/>
              <a:pathLst>
                <a:path h="1762125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762125"/>
                  </a:lnTo>
                  <a:lnTo>
                    <a:pt x="0" y="17621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296" r="0" b="-755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70432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Basic Concepts of Cryptography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00388" y="3852646"/>
            <a:ext cx="12087225" cy="204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Computer Networks 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Upadhyayula Nijaagna - 2301730196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B.TECH CSE (AI/ML)</a:t>
            </a:r>
          </a:p>
          <a:p>
            <a:pPr algn="ctr">
              <a:lnSpc>
                <a:spcPts val="3959"/>
              </a:lnSpc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Faculty: Assistant Prof. Kaurav Jyoti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4366" y="-124901"/>
            <a:ext cx="13716000" cy="102870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57488" y="-124901"/>
            <a:ext cx="12344400" cy="1714500"/>
            <a:chOff x="0" y="0"/>
            <a:chExt cx="11704320" cy="162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Cryptography?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886075" y="1360560"/>
            <a:ext cx="12087225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Cryptography is the process of protecting information by converting it from a readable form (plaintext) into an unreadable form (ciphertext) using mathematical techniques, so that only authorized people can access it.</a:t>
            </a:r>
          </a:p>
          <a:p>
            <a:pPr algn="l">
              <a:lnSpc>
                <a:spcPts val="3375"/>
              </a:lnSpc>
            </a:pPr>
          </a:p>
          <a:p>
            <a:pPr algn="l" marL="361950" indent="-180975" lvl="1">
              <a:lnSpc>
                <a:spcPts val="3375"/>
              </a:lnSpc>
              <a:buFont typeface="Arial"/>
              <a:buChar char="•"/>
            </a:pPr>
            <a:r>
              <a:rPr lang="en-US" sz="2812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Plaintext → Ciphertext</a:t>
            </a:r>
          </a:p>
          <a:p>
            <a:pPr algn="l" marL="361831" indent="-180916" lvl="1">
              <a:lnSpc>
                <a:spcPts val="3375"/>
              </a:lnSpc>
              <a:buFont typeface="Arial"/>
              <a:buChar char="•"/>
            </a:pPr>
            <a:r>
              <a:rPr lang="en-US" sz="2812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HELLO → XJ92K</a:t>
            </a:r>
          </a:p>
          <a:p>
            <a:pPr algn="l" marL="361950" indent="-180975" lvl="1">
              <a:lnSpc>
                <a:spcPts val="3375"/>
              </a:lnSpc>
              <a:buFont typeface="Arial"/>
              <a:buChar char="•"/>
            </a:pPr>
            <a:r>
              <a:rPr lang="en-US" sz="2812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Only someone with the correct key can convert it back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606203" y="5143500"/>
            <a:ext cx="12646970" cy="5419941"/>
            <a:chOff x="0" y="0"/>
            <a:chExt cx="16862627" cy="722658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7144" y="493280"/>
              <a:ext cx="16459200" cy="1246909"/>
              <a:chOff x="0" y="0"/>
              <a:chExt cx="11704320" cy="8866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704320" cy="886691"/>
              </a:xfrm>
              <a:custGeom>
                <a:avLst/>
                <a:gdLst/>
                <a:ahLst/>
                <a:cxnLst/>
                <a:rect r="r" b="b" t="t" l="l"/>
                <a:pathLst>
                  <a:path h="886691" w="11704320">
                    <a:moveTo>
                      <a:pt x="0" y="0"/>
                    </a:moveTo>
                    <a:lnTo>
                      <a:pt x="11704320" y="0"/>
                    </a:lnTo>
                    <a:lnTo>
                      <a:pt x="11704320" y="886691"/>
                    </a:lnTo>
                    <a:lnTo>
                      <a:pt x="0" y="88669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65535" r="0" b="-248869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85725"/>
                <a:ext cx="11704320" cy="9724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130"/>
                  </a:lnSpc>
                </a:pPr>
                <a:r>
                  <a:rPr lang="en-US" sz="4275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How It Works</a:t>
                </a: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7144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664994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329988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880821" y="2330685"/>
              <a:ext cx="1225446" cy="212921"/>
            </a:xfrm>
            <a:custGeom>
              <a:avLst/>
              <a:gdLst/>
              <a:ahLst/>
              <a:cxnLst/>
              <a:rect r="r" b="b" t="t" l="l"/>
              <a:pathLst>
                <a:path h="212921" w="1225446">
                  <a:moveTo>
                    <a:pt x="0" y="0"/>
                  </a:moveTo>
                  <a:lnTo>
                    <a:pt x="1225446" y="0"/>
                  </a:lnTo>
                  <a:lnTo>
                    <a:pt x="1225446" y="212921"/>
                  </a:lnTo>
                  <a:lnTo>
                    <a:pt x="0" y="21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406588" y="2130210"/>
              <a:ext cx="4687511" cy="61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45"/>
                </a:lnSpc>
              </a:pPr>
              <a:r>
                <a:rPr lang="en-US" sz="281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Plaintext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071108" y="2116273"/>
              <a:ext cx="2681315" cy="626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09"/>
                </a:lnSpc>
              </a:pPr>
              <a:r>
                <a:rPr lang="en-US" sz="2078" b="true">
                  <a:solidFill>
                    <a:srgbClr val="0F172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Encryption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879595" y="2106748"/>
              <a:ext cx="2479663" cy="613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7"/>
                </a:lnSpc>
              </a:pPr>
              <a:r>
                <a:rPr lang="en-US" sz="2812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Ciphertext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10703286" y="2330685"/>
              <a:ext cx="1225446" cy="212921"/>
            </a:xfrm>
            <a:custGeom>
              <a:avLst/>
              <a:gdLst/>
              <a:ahLst/>
              <a:cxnLst/>
              <a:rect r="r" b="b" t="t" l="l"/>
              <a:pathLst>
                <a:path h="212921" w="1225446">
                  <a:moveTo>
                    <a:pt x="0" y="0"/>
                  </a:moveTo>
                  <a:lnTo>
                    <a:pt x="1225446" y="0"/>
                  </a:lnTo>
                  <a:lnTo>
                    <a:pt x="1225446" y="212921"/>
                  </a:lnTo>
                  <a:lnTo>
                    <a:pt x="0" y="21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740189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664994" y="1740189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376227" y="1740189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516068" y="3881222"/>
              <a:ext cx="2468552" cy="602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7"/>
                </a:lnSpc>
              </a:pPr>
              <a:r>
                <a:rPr lang="en-US" sz="199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Ciphertext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5052271" y="4094895"/>
              <a:ext cx="1225446" cy="212921"/>
            </a:xfrm>
            <a:custGeom>
              <a:avLst/>
              <a:gdLst/>
              <a:ahLst/>
              <a:cxnLst/>
              <a:rect r="r" b="b" t="t" l="l"/>
              <a:pathLst>
                <a:path h="212921" w="1225446">
                  <a:moveTo>
                    <a:pt x="0" y="0"/>
                  </a:moveTo>
                  <a:lnTo>
                    <a:pt x="1225446" y="0"/>
                  </a:lnTo>
                  <a:lnTo>
                    <a:pt x="1225446" y="212921"/>
                  </a:lnTo>
                  <a:lnTo>
                    <a:pt x="0" y="21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0763504" y="4094895"/>
              <a:ext cx="1225446" cy="212921"/>
            </a:xfrm>
            <a:custGeom>
              <a:avLst/>
              <a:gdLst/>
              <a:ahLst/>
              <a:cxnLst/>
              <a:rect r="r" b="b" t="t" l="l"/>
              <a:pathLst>
                <a:path h="212921" w="1225446">
                  <a:moveTo>
                    <a:pt x="0" y="0"/>
                  </a:moveTo>
                  <a:lnTo>
                    <a:pt x="1225446" y="0"/>
                  </a:lnTo>
                  <a:lnTo>
                    <a:pt x="1225446" y="212921"/>
                  </a:lnTo>
                  <a:lnTo>
                    <a:pt x="0" y="21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7093297" y="3779975"/>
              <a:ext cx="2629793" cy="613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7"/>
                </a:lnSpc>
              </a:pPr>
              <a:r>
                <a:rPr lang="en-US" sz="2812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Decryption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276687" y="3779975"/>
              <a:ext cx="2082571" cy="613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7"/>
                </a:lnSpc>
              </a:pPr>
              <a:r>
                <a:rPr lang="en-US" sz="2812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Plaintext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106267" y="5097769"/>
              <a:ext cx="4574495" cy="729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1"/>
                </a:lnSpc>
              </a:pPr>
              <a:r>
                <a:rPr lang="en-US" sz="238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Uses secret keys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0"/>
            <a:ext cx="13716000" cy="102870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Goals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71800" y="2698173"/>
            <a:ext cx="5441373" cy="1804555"/>
            <a:chOff x="0" y="0"/>
            <a:chExt cx="1433119" cy="4752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3119" cy="475274"/>
            </a:xfrm>
            <a:custGeom>
              <a:avLst/>
              <a:gdLst/>
              <a:ahLst/>
              <a:cxnLst/>
              <a:rect r="r" b="b" t="t" l="l"/>
              <a:pathLst>
                <a:path h="475274" w="1433119">
                  <a:moveTo>
                    <a:pt x="0" y="0"/>
                  </a:moveTo>
                  <a:lnTo>
                    <a:pt x="1433119" y="0"/>
                  </a:lnTo>
                  <a:lnTo>
                    <a:pt x="1433119" y="475274"/>
                  </a:lnTo>
                  <a:lnTo>
                    <a:pt x="0" y="475274"/>
                  </a:ln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33119" cy="513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69094" y="3003018"/>
            <a:ext cx="3572267" cy="111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8"/>
              </a:lnSpc>
            </a:pPr>
            <a:r>
              <a:rPr lang="en-US" sz="38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Confidentiality</a:t>
            </a:r>
          </a:p>
          <a:p>
            <a:pPr algn="ctr">
              <a:lnSpc>
                <a:spcPts val="3618"/>
              </a:lnSpc>
            </a:pPr>
            <a:r>
              <a:rPr lang="en-US" sz="258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stays private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57011" y="2698173"/>
            <a:ext cx="5441373" cy="1804555"/>
            <a:chOff x="0" y="0"/>
            <a:chExt cx="1433119" cy="475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3119" cy="475274"/>
            </a:xfrm>
            <a:custGeom>
              <a:avLst/>
              <a:gdLst/>
              <a:ahLst/>
              <a:cxnLst/>
              <a:rect r="r" b="b" t="t" l="l"/>
              <a:pathLst>
                <a:path h="475274" w="1433119">
                  <a:moveTo>
                    <a:pt x="0" y="0"/>
                  </a:moveTo>
                  <a:lnTo>
                    <a:pt x="1433119" y="0"/>
                  </a:lnTo>
                  <a:lnTo>
                    <a:pt x="1433119" y="475274"/>
                  </a:lnTo>
                  <a:lnTo>
                    <a:pt x="0" y="475274"/>
                  </a:ln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33119" cy="513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71800" y="6302086"/>
            <a:ext cx="5441373" cy="1804555"/>
            <a:chOff x="0" y="0"/>
            <a:chExt cx="1433119" cy="4752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3119" cy="475274"/>
            </a:xfrm>
            <a:custGeom>
              <a:avLst/>
              <a:gdLst/>
              <a:ahLst/>
              <a:cxnLst/>
              <a:rect r="r" b="b" t="t" l="l"/>
              <a:pathLst>
                <a:path h="475274" w="1433119">
                  <a:moveTo>
                    <a:pt x="0" y="0"/>
                  </a:moveTo>
                  <a:lnTo>
                    <a:pt x="1433119" y="0"/>
                  </a:lnTo>
                  <a:lnTo>
                    <a:pt x="1433119" y="475274"/>
                  </a:lnTo>
                  <a:lnTo>
                    <a:pt x="0" y="475274"/>
                  </a:ln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33119" cy="513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57011" y="6302086"/>
            <a:ext cx="5441373" cy="1804555"/>
            <a:chOff x="0" y="0"/>
            <a:chExt cx="1433119" cy="4752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3119" cy="475274"/>
            </a:xfrm>
            <a:custGeom>
              <a:avLst/>
              <a:gdLst/>
              <a:ahLst/>
              <a:cxnLst/>
              <a:rect r="r" b="b" t="t" l="l"/>
              <a:pathLst>
                <a:path h="475274" w="1433119">
                  <a:moveTo>
                    <a:pt x="0" y="0"/>
                  </a:moveTo>
                  <a:lnTo>
                    <a:pt x="1433119" y="0"/>
                  </a:lnTo>
                  <a:lnTo>
                    <a:pt x="1433119" y="475274"/>
                  </a:lnTo>
                  <a:lnTo>
                    <a:pt x="0" y="475274"/>
                  </a:ln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33119" cy="513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225775" y="2902744"/>
            <a:ext cx="3303845" cy="131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</a:pPr>
            <a:r>
              <a:rPr lang="en-US" sz="478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Integrity </a:t>
            </a:r>
          </a:p>
          <a:p>
            <a:pPr algn="ctr">
              <a:lnSpc>
                <a:spcPts val="3937"/>
              </a:lnSpc>
            </a:pPr>
            <a:r>
              <a:rPr lang="en-US" sz="281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changes in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54553" y="6506658"/>
            <a:ext cx="4475866" cy="131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</a:pPr>
            <a:r>
              <a:rPr lang="en-US" sz="478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Authentication</a:t>
            </a:r>
          </a:p>
          <a:p>
            <a:pPr algn="ctr">
              <a:lnSpc>
                <a:spcPts val="3937"/>
              </a:lnSpc>
            </a:pPr>
            <a:r>
              <a:rPr lang="en-US" sz="281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Verify identity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51974" y="6506658"/>
            <a:ext cx="6451447" cy="131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</a:pPr>
            <a:r>
              <a:rPr lang="en-US" sz="478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Non-repudiation</a:t>
            </a:r>
          </a:p>
          <a:p>
            <a:pPr algn="ctr">
              <a:lnSpc>
                <a:spcPts val="3937"/>
              </a:lnSpc>
            </a:pPr>
            <a:r>
              <a:rPr lang="en-US" sz="281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Sender cannot deny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38545"/>
            <a:ext cx="13716000" cy="102870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0" y="-211492"/>
            <a:ext cx="12344400" cy="1714500"/>
            <a:chOff x="0" y="0"/>
            <a:chExt cx="11704320" cy="162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Types of Cryptography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47950" y="1643495"/>
            <a:ext cx="3761509" cy="7727373"/>
            <a:chOff x="0" y="0"/>
            <a:chExt cx="990686" cy="20351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0686" cy="2035193"/>
            </a:xfrm>
            <a:custGeom>
              <a:avLst/>
              <a:gdLst/>
              <a:ahLst/>
              <a:cxnLst/>
              <a:rect r="r" b="b" t="t" l="l"/>
              <a:pathLst>
                <a:path h="2035193" w="990686">
                  <a:moveTo>
                    <a:pt x="0" y="0"/>
                  </a:moveTo>
                  <a:lnTo>
                    <a:pt x="990686" y="0"/>
                  </a:lnTo>
                  <a:lnTo>
                    <a:pt x="990686" y="2035193"/>
                  </a:lnTo>
                  <a:lnTo>
                    <a:pt x="0" y="2035193"/>
                  </a:ln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90686" cy="2073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63245" y="1643495"/>
            <a:ext cx="3761509" cy="7727373"/>
            <a:chOff x="0" y="0"/>
            <a:chExt cx="990686" cy="20351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0686" cy="2035193"/>
            </a:xfrm>
            <a:custGeom>
              <a:avLst/>
              <a:gdLst/>
              <a:ahLst/>
              <a:cxnLst/>
              <a:rect r="r" b="b" t="t" l="l"/>
              <a:pathLst>
                <a:path h="2035193" w="990686">
                  <a:moveTo>
                    <a:pt x="0" y="0"/>
                  </a:moveTo>
                  <a:lnTo>
                    <a:pt x="990686" y="0"/>
                  </a:lnTo>
                  <a:lnTo>
                    <a:pt x="990686" y="2035193"/>
                  </a:lnTo>
                  <a:lnTo>
                    <a:pt x="0" y="2035193"/>
                  </a:ln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90686" cy="2073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49006" y="1780099"/>
            <a:ext cx="3761509" cy="7727373"/>
            <a:chOff x="0" y="0"/>
            <a:chExt cx="990686" cy="2035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0686" cy="2035193"/>
            </a:xfrm>
            <a:custGeom>
              <a:avLst/>
              <a:gdLst/>
              <a:ahLst/>
              <a:cxnLst/>
              <a:rect r="r" b="b" t="t" l="l"/>
              <a:pathLst>
                <a:path h="2035193" w="990686">
                  <a:moveTo>
                    <a:pt x="0" y="0"/>
                  </a:moveTo>
                  <a:lnTo>
                    <a:pt x="990686" y="0"/>
                  </a:lnTo>
                  <a:lnTo>
                    <a:pt x="990686" y="2035193"/>
                  </a:lnTo>
                  <a:lnTo>
                    <a:pt x="0" y="2035193"/>
                  </a:ln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90686" cy="2073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803814" y="2974614"/>
            <a:ext cx="3377593" cy="206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390" indent="-310695" lvl="1">
              <a:lnSpc>
                <a:spcPts val="3453"/>
              </a:lnSpc>
              <a:buFont typeface="Arial"/>
              <a:buChar char="•"/>
            </a:pPr>
            <a:r>
              <a:rPr lang="en-US" sz="2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Same key used</a:t>
            </a:r>
          </a:p>
          <a:p>
            <a:pPr algn="l" marL="621390" indent="-310695" lvl="1">
              <a:lnSpc>
                <a:spcPts val="3453"/>
              </a:lnSpc>
              <a:buFont typeface="Arial"/>
              <a:buChar char="•"/>
            </a:pPr>
            <a:r>
              <a:rPr lang="en-US" sz="2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</a:t>
            </a:r>
          </a:p>
          <a:p>
            <a:pPr algn="l" marL="621390" indent="-310695" lvl="1">
              <a:lnSpc>
                <a:spcPts val="3453"/>
              </a:lnSpc>
              <a:buFont typeface="Arial"/>
              <a:buChar char="•"/>
            </a:pPr>
            <a:r>
              <a:rPr lang="en-US" sz="2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AES </a:t>
            </a:r>
          </a:p>
          <a:p>
            <a:pPr algn="just">
              <a:lnSpc>
                <a:spcPts val="2947"/>
              </a:lnSpc>
              <a:spcBef>
                <a:spcPct val="0"/>
              </a:spcBef>
            </a:pPr>
            <a:r>
              <a:rPr lang="en-US" sz="2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(Advanced Encryption </a:t>
            </a:r>
          </a:p>
          <a:p>
            <a:pPr algn="just">
              <a:lnSpc>
                <a:spcPts val="2947"/>
              </a:lnSpc>
              <a:spcBef>
                <a:spcPct val="0"/>
              </a:spcBef>
            </a:pPr>
            <a:r>
              <a:rPr lang="en-US" sz="2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64846" y="1780099"/>
            <a:ext cx="7855527" cy="1091045"/>
            <a:chOff x="0" y="0"/>
            <a:chExt cx="11704320" cy="1625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1704320" cy="171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23"/>
                </a:lnSpc>
              </a:pPr>
              <a:r>
                <a:rPr lang="en-US" b="true" sz="385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Symmetric Key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16236" y="1780099"/>
            <a:ext cx="7855527" cy="1091045"/>
            <a:chOff x="0" y="0"/>
            <a:chExt cx="11704320" cy="1625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1704320" cy="171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23"/>
                </a:lnSpc>
              </a:pPr>
              <a:r>
                <a:rPr lang="en-US" sz="3853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</a:t>
              </a:r>
              <a:r>
                <a:rPr lang="en-US" b="true" sz="385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ymmetric Key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354651" y="2984139"/>
            <a:ext cx="3446646" cy="220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722" indent="-305361" lvl="1">
              <a:lnSpc>
                <a:spcPts val="3394"/>
              </a:lnSpc>
              <a:buFont typeface="Arial"/>
              <a:buChar char="•"/>
            </a:pPr>
            <a:r>
              <a:rPr lang="en-US" sz="2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+ Private Key</a:t>
            </a:r>
          </a:p>
          <a:p>
            <a:pPr algn="l" marL="610722" indent="-305361" lvl="1">
              <a:lnSpc>
                <a:spcPts val="3394"/>
              </a:lnSpc>
              <a:buFont typeface="Arial"/>
              <a:buChar char="•"/>
            </a:pPr>
            <a:r>
              <a:rPr lang="en-US" sz="2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Secure</a:t>
            </a:r>
          </a:p>
          <a:p>
            <a:pPr algn="l" marL="610722" indent="-305361" lvl="1">
              <a:lnSpc>
                <a:spcPts val="3394"/>
              </a:lnSpc>
              <a:buFont typeface="Arial"/>
              <a:buChar char="•"/>
            </a:pPr>
            <a:r>
              <a:rPr lang="en-US" sz="2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RSA </a:t>
            </a:r>
          </a:p>
          <a:p>
            <a:pPr algn="l">
              <a:lnSpc>
                <a:spcPts val="3394"/>
              </a:lnSpc>
              <a:spcBef>
                <a:spcPct val="0"/>
              </a:spcBef>
            </a:pPr>
            <a:r>
              <a:rPr lang="en-US" sz="2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(Rivest–Shamir–</a:t>
            </a:r>
          </a:p>
          <a:p>
            <a:pPr algn="l">
              <a:lnSpc>
                <a:spcPts val="3394"/>
              </a:lnSpc>
              <a:spcBef>
                <a:spcPct val="0"/>
              </a:spcBef>
            </a:pPr>
            <a:r>
              <a:rPr lang="en-US" sz="28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Adleman)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412536" y="1879134"/>
            <a:ext cx="6429416" cy="892974"/>
            <a:chOff x="0" y="0"/>
            <a:chExt cx="11704320" cy="1625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1704320" cy="1711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30"/>
                </a:lnSpc>
              </a:pPr>
              <a:r>
                <a:rPr lang="en-US" b="true" sz="427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Hash Functions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749006" y="2974614"/>
            <a:ext cx="4252994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824" indent="-305912" lvl="1">
              <a:lnSpc>
                <a:spcPts val="340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One-way</a:t>
            </a:r>
          </a:p>
          <a:p>
            <a:pPr algn="l" marL="611824" indent="-305912" lvl="1">
              <a:lnSpc>
                <a:spcPts val="340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 (Secure Hash Algorithm)</a:t>
            </a:r>
          </a:p>
          <a:p>
            <a:pPr algn="l" marL="611824" indent="-305912" lvl="1">
              <a:lnSpc>
                <a:spcPts val="340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for passwords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25882" y="5624735"/>
            <a:ext cx="3533435" cy="210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</a:t>
            </a:r>
          </a:p>
          <a:p>
            <a:pPr algn="l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lock a file with a password</a:t>
            </a:r>
          </a:p>
          <a:p>
            <a:pPr algn="l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share the same password to open it</a:t>
            </a:r>
          </a:p>
          <a:p>
            <a:pPr algn="l">
              <a:lnSpc>
                <a:spcPts val="1860"/>
              </a:lnSpc>
              <a:spcBef>
                <a:spcPct val="0"/>
              </a:spcBef>
            </a:pPr>
          </a:p>
          <a:p>
            <a:pPr algn="l">
              <a:lnSpc>
                <a:spcPts val="1860"/>
              </a:lnSpc>
              <a:spcBef>
                <a:spcPct val="0"/>
              </a:spcBef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Scenario:</a:t>
            </a:r>
          </a:p>
          <a:p>
            <a:pPr algn="l" marL="334782" indent="-167391" lvl="1">
              <a:lnSpc>
                <a:spcPts val="1860"/>
              </a:lnSpc>
              <a:spcBef>
                <a:spcPct val="0"/>
              </a:spcBef>
              <a:buFont typeface="Arial"/>
              <a:buChar char="•"/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send a message: HELLO</a:t>
            </a:r>
          </a:p>
          <a:p>
            <a:pPr algn="l" marL="334782" indent="-167391" lvl="1">
              <a:lnSpc>
                <a:spcPts val="1860"/>
              </a:lnSpc>
              <a:spcBef>
                <a:spcPct val="0"/>
              </a:spcBef>
              <a:buFont typeface="Arial"/>
              <a:buChar char="•"/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Encrypt using key: 123</a:t>
            </a:r>
          </a:p>
          <a:p>
            <a:pPr algn="l" marL="334782" indent="-167391" lvl="1">
              <a:lnSpc>
                <a:spcPts val="1860"/>
              </a:lnSpc>
              <a:spcBef>
                <a:spcPct val="0"/>
              </a:spcBef>
              <a:buFont typeface="Arial"/>
              <a:buChar char="•"/>
            </a:pPr>
            <a:r>
              <a:rPr lang="en-US" sz="15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Receiver uses same key (123) to decrypt</a:t>
            </a:r>
          </a:p>
          <a:p>
            <a:pPr algn="l">
              <a:lnSpc>
                <a:spcPts val="186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354651" y="5615210"/>
            <a:ext cx="3670103" cy="170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Key → Used to lock (encrypt)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Private Key → Used to unlock (decrypt)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Scenario:</a:t>
            </a:r>
          </a:p>
          <a:p>
            <a:pPr algn="l" marL="314484" indent="-157242" lvl="1">
              <a:lnSpc>
                <a:spcPts val="1747"/>
              </a:lnSpc>
              <a:spcBef>
                <a:spcPct val="0"/>
              </a:spcBef>
              <a:buFont typeface="Arial"/>
              <a:buChar char="•"/>
            </a:pPr>
            <a:r>
              <a:rPr lang="en-US" sz="1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send message using receiver’s public key</a:t>
            </a:r>
          </a:p>
          <a:p>
            <a:pPr algn="l" marL="314484" indent="-157242" lvl="1">
              <a:lnSpc>
                <a:spcPts val="1747"/>
              </a:lnSpc>
              <a:spcBef>
                <a:spcPct val="0"/>
              </a:spcBef>
              <a:buFont typeface="Arial"/>
              <a:buChar char="•"/>
            </a:pPr>
            <a:r>
              <a:rPr lang="en-US" sz="145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Only receiver can open using private key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823173" y="5580838"/>
            <a:ext cx="3687342" cy="211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1"/>
              </a:lnSpc>
              <a:spcBef>
                <a:spcPct val="0"/>
              </a:spcBef>
            </a:pPr>
            <a:r>
              <a:rPr lang="en-US" sz="1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</a:t>
            </a:r>
          </a:p>
          <a:p>
            <a:pPr algn="l">
              <a:lnSpc>
                <a:spcPts val="1851"/>
              </a:lnSpc>
              <a:spcBef>
                <a:spcPct val="0"/>
              </a:spcBef>
            </a:pPr>
            <a:r>
              <a:rPr lang="en-US" sz="1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Password → converted into hash</a:t>
            </a:r>
          </a:p>
          <a:p>
            <a:pPr algn="l">
              <a:lnSpc>
                <a:spcPts val="1851"/>
              </a:lnSpc>
              <a:spcBef>
                <a:spcPct val="0"/>
              </a:spcBef>
            </a:pPr>
          </a:p>
          <a:p>
            <a:pPr algn="l">
              <a:lnSpc>
                <a:spcPts val="1851"/>
              </a:lnSpc>
              <a:spcBef>
                <a:spcPct val="0"/>
              </a:spcBef>
            </a:pPr>
            <a:r>
              <a:rPr lang="en-US" sz="1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Scenario:</a:t>
            </a:r>
          </a:p>
          <a:p>
            <a:pPr algn="l" marL="333167" indent="-166584" lvl="1">
              <a:lnSpc>
                <a:spcPts val="1851"/>
              </a:lnSpc>
              <a:spcBef>
                <a:spcPct val="0"/>
              </a:spcBef>
              <a:buFont typeface="Arial"/>
              <a:buChar char="•"/>
            </a:pPr>
            <a:r>
              <a:rPr lang="en-US" sz="1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Password: mypassword</a:t>
            </a:r>
          </a:p>
          <a:p>
            <a:pPr algn="l" marL="333167" indent="-166584" lvl="1">
              <a:lnSpc>
                <a:spcPts val="1851"/>
              </a:lnSpc>
              <a:spcBef>
                <a:spcPct val="0"/>
              </a:spcBef>
              <a:buFont typeface="Arial"/>
              <a:buChar char="•"/>
            </a:pPr>
            <a:r>
              <a:rPr lang="en-US" sz="1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Hash: a7f5f35426...</a:t>
            </a:r>
          </a:p>
          <a:p>
            <a:pPr algn="l" marL="333167" indent="-166584" lvl="1">
              <a:lnSpc>
                <a:spcPts val="1851"/>
              </a:lnSpc>
              <a:spcBef>
                <a:spcPct val="0"/>
              </a:spcBef>
              <a:buFont typeface="Arial"/>
              <a:buChar char="•"/>
            </a:pPr>
            <a:r>
              <a:rPr lang="en-US" sz="1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Even system cannot get original password </a:t>
            </a:r>
          </a:p>
          <a:p>
            <a:pPr algn="l">
              <a:lnSpc>
                <a:spcPts val="1851"/>
              </a:lnSpc>
              <a:spcBef>
                <a:spcPct val="0"/>
              </a:spcBef>
            </a:pPr>
            <a:r>
              <a:rPr lang="en-US" sz="1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</a:t>
            </a:r>
          </a:p>
          <a:p>
            <a:pPr algn="l">
              <a:lnSpc>
                <a:spcPts val="18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0"/>
            <a:ext cx="13716000" cy="102870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00388" y="2397919"/>
            <a:ext cx="12087225" cy="67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HTTPS (HyperText Transfer Protocol Secure)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Banking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Messaging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signatures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0"/>
            <a:ext cx="13716000" cy="102870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71800" y="411962"/>
            <a:ext cx="12344400" cy="1714500"/>
            <a:chOff x="0" y="0"/>
            <a:chExt cx="11704320" cy="162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1704320" cy="1739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00388" y="2397919"/>
            <a:ext cx="12087225" cy="672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Essential for security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Used everywhere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C8C8C8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Protects digital 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DAHH4rYLVA8</dc:identifier>
  <dcterms:modified xsi:type="dcterms:W3CDTF">2011-08-01T06:04:30Z</dcterms:modified>
  <cp:revision>1</cp:revision>
  <dc:title>Computer Networks Upadhyayula Nijaagna - 2301730196 B.TECH CSE (AI/ML) Faculty: Assistant Prof. Kaurav Jyoti</dc:title>
</cp:coreProperties>
</file>